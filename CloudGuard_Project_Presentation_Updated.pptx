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366760" y="731520"/>
            <a:ext cx="2926080" cy="2926080"/>
          </a:xfrm>
          <a:prstGeom prst="ellipse">
            <a:avLst/>
          </a:prstGeom>
          <a:solidFill>
            <a:srgbClr val="17243A"/>
          </a:solidFill>
          <a:ln>
            <a:solidFill>
              <a:srgbClr val="17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96528" y="1161288"/>
            <a:ext cx="2057400" cy="2057400"/>
          </a:xfrm>
          <a:prstGeom prst="ellipse">
            <a:avLst/>
          </a:prstGeom>
          <a:solidFill>
            <a:srgbClr val="4778F5"/>
          </a:solidFill>
          <a:ln>
            <a:solidFill>
              <a:srgbClr val="477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89720" y="1554480"/>
            <a:ext cx="1280160" cy="1280160"/>
          </a:xfrm>
          <a:prstGeom prst="ellipse">
            <a:avLst/>
          </a:prstGeom>
          <a:solidFill>
            <a:srgbClr val="0B1220"/>
          </a:solidFill>
          <a:ln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482328" y="1819656"/>
            <a:ext cx="73152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800" b="1">
                <a:solidFill>
                  <a:srgbClr val="26C6DA"/>
                </a:solidFill>
                <a:latin typeface="Aptos"/>
              </a:defRPr>
            </a:pPr>
            <a:r>
              <a:t>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115568"/>
            <a:ext cx="71323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C6DA"/>
                </a:solidFill>
                <a:latin typeface="Aptos"/>
              </a:defRPr>
            </a:pPr>
            <a:r>
              <a:t>CLOUD RELIABILITY • MONITORING •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64208"/>
            <a:ext cx="71323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4400" b="1">
                <a:solidFill>
                  <a:srgbClr val="EFF5FF"/>
                </a:solidFill>
                <a:latin typeface="Aptos"/>
              </a:defRPr>
            </a:pPr>
            <a:r>
              <a:t>CloudGuard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2578608"/>
            <a:ext cx="6675120" cy="11430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9AABC5"/>
                </a:solidFill>
                <a:latin typeface="Aptos"/>
              </a:defRPr>
            </a:pPr>
            <a:r>
              <a:t>Stay online.</a:t>
            </a:r>
          </a:p>
          <a:p>
            <a:pPr>
              <a:spcAft>
                <a:spcPts val="500"/>
              </a:spcAft>
              <a:defRPr sz="2500" b="1">
                <a:solidFill>
                  <a:srgbClr val="9AABC5"/>
                </a:solidFill>
                <a:latin typeface="Aptos"/>
              </a:defRPr>
            </a:pPr>
            <a:r>
              <a:t>Recover smarter.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4096512"/>
            <a:ext cx="914400" cy="50292"/>
          </a:xfrm>
          <a:prstGeom prst="rect">
            <a:avLst/>
          </a:prstGeom>
          <a:solidFill>
            <a:srgbClr val="26C6DA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370832"/>
            <a:ext cx="36576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FF5FF"/>
                </a:solidFill>
                <a:latin typeface="Aptos"/>
              </a:defRPr>
            </a:pPr>
            <a:r>
              <a:t>Project presentation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800600"/>
            <a:ext cx="80467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AABC5"/>
                </a:solidFill>
                <a:latin typeface="Aptos"/>
              </a:defRPr>
            </a:pPr>
            <a:r>
              <a:t>Problem  •  Solution  •  Architecture  •  Workflow  •  Prototype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053328"/>
            <a:ext cx="91440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9AABC5"/>
                </a:solidFill>
                <a:latin typeface="Aptos"/>
              </a:defRPr>
            </a:pPr>
            <a:r>
              <a:t>Academic project prototype | Simulated data, not a live cloud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C6DA"/>
                </a:solidFill>
                <a:latin typeface="Aptos"/>
              </a:defRPr>
            </a:pPr>
            <a:r>
              <a:t>01 / ABOUT 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EFF5FF"/>
                </a:solidFill>
                <a:latin typeface="Aptos"/>
              </a:defRPr>
            </a:pPr>
            <a:r>
              <a:t>What is CloudGuard?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A cloud-reliability concept for an e-commerce service.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26375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9AABC5"/>
                </a:solidFill>
                <a:latin typeface="Aptos"/>
              </a:defRPr>
            </a:pPr>
            <a:r>
              <a:t>CLOUDGUARD  •  CLOUD RELIABILITY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6C6DA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965960"/>
            <a:ext cx="5577840" cy="12344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2100" b="1">
                <a:solidFill>
                  <a:srgbClr val="EFF5FF"/>
                </a:solidFill>
                <a:latin typeface="Aptos"/>
              </a:defRPr>
            </a:pPr>
            <a:r>
              <a:t>CloudGuard is a proposed system that monitors a cloud-hosted e-commerce service, detects trouble, and demonstrates recovery actions to reduce downtime.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3657600"/>
            <a:ext cx="100584" cy="100584"/>
          </a:xfrm>
          <a:prstGeom prst="ellipse">
            <a:avLst/>
          </a:prstGeom>
          <a:solidFill>
            <a:srgbClr val="26C6DA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66160"/>
            <a:ext cx="5486400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9AABC5"/>
                </a:solidFill>
                <a:latin typeface="Aptos"/>
              </a:defRPr>
            </a:pPr>
            <a:r>
              <a:t>Tracks CPU, memory, response time, and request error rate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4178807"/>
            <a:ext cx="100584" cy="100584"/>
          </a:xfrm>
          <a:prstGeom prst="ellipse">
            <a:avLst/>
          </a:prstGeom>
          <a:solidFill>
            <a:srgbClr val="26C6DA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087368"/>
            <a:ext cx="5486400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9AABC5"/>
                </a:solidFill>
                <a:latin typeface="Aptos"/>
              </a:defRPr>
            </a:pPr>
            <a:r>
              <a:t>Shows a simplified primary and backup cloud-region setup</a:t>
            </a:r>
          </a:p>
        </p:txBody>
      </p:sp>
      <p:sp>
        <p:nvSpPr>
          <p:cNvPr id="13" name="Oval 12"/>
          <p:cNvSpPr/>
          <p:nvPr/>
        </p:nvSpPr>
        <p:spPr>
          <a:xfrm>
            <a:off x="868680" y="4700016"/>
            <a:ext cx="100584" cy="100584"/>
          </a:xfrm>
          <a:prstGeom prst="ellipse">
            <a:avLst/>
          </a:prstGeom>
          <a:solidFill>
            <a:srgbClr val="26C6DA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608576"/>
            <a:ext cx="5486400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9AABC5"/>
                </a:solidFill>
                <a:latin typeface="Aptos"/>
              </a:defRPr>
            </a:pPr>
            <a:r>
              <a:t>Simulates responses to a traffic spike or regional failure</a:t>
            </a:r>
          </a:p>
        </p:txBody>
      </p:sp>
      <p:sp>
        <p:nvSpPr>
          <p:cNvPr id="15" name="Oval 14"/>
          <p:cNvSpPr/>
          <p:nvPr/>
        </p:nvSpPr>
        <p:spPr>
          <a:xfrm>
            <a:off x="868680" y="5221223"/>
            <a:ext cx="100584" cy="100584"/>
          </a:xfrm>
          <a:prstGeom prst="ellipse">
            <a:avLst/>
          </a:prstGeom>
          <a:solidFill>
            <a:srgbClr val="26C6DA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129783"/>
            <a:ext cx="5486400" cy="502919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9AABC5"/>
                </a:solidFill>
                <a:latin typeface="Aptos"/>
              </a:defRPr>
            </a:pPr>
            <a:r>
              <a:t>Displays monitoring events so users can follow what happened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95160" y="1965960"/>
            <a:ext cx="4251960" cy="3429000"/>
          </a:xfrm>
          <a:prstGeom prst="roundRect">
            <a:avLst/>
          </a:prstGeom>
          <a:solidFill>
            <a:srgbClr val="17243A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60920" y="2331720"/>
            <a:ext cx="33832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C6DA"/>
                </a:solidFill>
                <a:latin typeface="Aptos"/>
              </a:defRPr>
            </a:pPr>
            <a:r>
              <a:t>THE PROJECT PROMISE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2788920"/>
            <a:ext cx="3291840" cy="1783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EFF5FF"/>
                </a:solidFill>
                <a:latin typeface="Aptos"/>
              </a:defRPr>
            </a:pPr>
            <a:r>
              <a:t>Monitor.</a:t>
            </a:r>
          </a:p>
          <a:p>
            <a:pPr>
              <a:spcAft>
                <a:spcPts val="500"/>
              </a:spcAft>
              <a:defRPr sz="2800" b="1">
                <a:solidFill>
                  <a:srgbClr val="EFF5FF"/>
                </a:solidFill>
                <a:latin typeface="Aptos"/>
              </a:defRPr>
            </a:pPr>
            <a:r>
              <a:t>Detect.</a:t>
            </a:r>
          </a:p>
          <a:p>
            <a:pPr>
              <a:spcAft>
                <a:spcPts val="500"/>
              </a:spcAft>
              <a:defRPr sz="2800" b="1">
                <a:solidFill>
                  <a:srgbClr val="EFF5FF"/>
                </a:solidFill>
                <a:latin typeface="Aptos"/>
              </a:defRPr>
            </a:pPr>
            <a:r>
              <a:t>Respond.</a:t>
            </a:r>
          </a:p>
          <a:p>
            <a:pPr>
              <a:spcAft>
                <a:spcPts val="500"/>
              </a:spcAft>
              <a:defRPr sz="2800" b="1">
                <a:solidFill>
                  <a:srgbClr val="EFF5FF"/>
                </a:solidFill>
                <a:latin typeface="Aptos"/>
              </a:defRPr>
            </a:pPr>
            <a:r>
              <a:t>Recover.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60920" y="4800600"/>
            <a:ext cx="333756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AABC5"/>
                </a:solidFill>
                <a:latin typeface="Aptos"/>
              </a:defRPr>
            </a:pPr>
            <a:r>
              <a:t>Make service health easier to understand and recovery easier to explain.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C6DA"/>
                </a:solidFill>
                <a:latin typeface="Aptos"/>
              </a:defRPr>
            </a:pPr>
            <a:r>
              <a:t>02 /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EFF5FF"/>
                </a:solidFill>
                <a:latin typeface="Aptos"/>
              </a:defRPr>
            </a:pPr>
            <a:r>
              <a:t>Why cloud reliability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For an online store, delays or outages can interrupt the customer journey.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26375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9AABC5"/>
                </a:solidFill>
                <a:latin typeface="Aptos"/>
              </a:defRPr>
            </a:pPr>
            <a:r>
              <a:t>CLOUDGUARD  •  CLOUD RELIABILITY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6C6D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2057400"/>
            <a:ext cx="5074920" cy="1389888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2057400"/>
            <a:ext cx="54864" cy="1389888"/>
          </a:xfrm>
          <a:prstGeom prst="rect">
            <a:avLst/>
          </a:prstGeom>
          <a:solidFill>
            <a:srgbClr val="ED9A35"/>
          </a:solidFill>
          <a:ln>
            <a:solidFill>
              <a:srgbClr val="ED9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221992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EFF5FF"/>
                </a:solidFill>
                <a:latin typeface="Aptos"/>
              </a:defRPr>
            </a:pPr>
            <a:r>
              <a:t>Service overload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642616"/>
            <a:ext cx="4709159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AABC5"/>
                </a:solidFill>
                <a:latin typeface="Aptos"/>
              </a:defRPr>
            </a:pPr>
            <a:r>
              <a:t>Traffic spikes can push CPU and memory usage higher and slow responses.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2057400"/>
            <a:ext cx="5074920" cy="1389888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928" y="2057400"/>
            <a:ext cx="54864" cy="1389888"/>
          </a:xfrm>
          <a:prstGeom prst="rect">
            <a:avLst/>
          </a:prstGeom>
          <a:solidFill>
            <a:srgbClr val="E65E69"/>
          </a:solidFill>
          <a:ln>
            <a:solidFill>
              <a:srgbClr val="E65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221992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EFF5FF"/>
                </a:solidFill>
                <a:latin typeface="Aptos"/>
              </a:defRPr>
            </a:pPr>
            <a:r>
              <a:t>Regional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642616"/>
            <a:ext cx="4709159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AABC5"/>
                </a:solidFill>
                <a:latin typeface="Aptos"/>
              </a:defRPr>
            </a:pPr>
            <a:r>
              <a:t>If a primary cloud region becomes unavailable, requests may fail.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813048"/>
            <a:ext cx="5074920" cy="1389888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3813048"/>
            <a:ext cx="54864" cy="1389888"/>
          </a:xfrm>
          <a:prstGeom prst="rect">
            <a:avLst/>
          </a:prstGeom>
          <a:solidFill>
            <a:srgbClr val="4778F5"/>
          </a:solidFill>
          <a:ln>
            <a:solidFill>
              <a:srgbClr val="477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977639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EFF5FF"/>
                </a:solidFill>
                <a:latin typeface="Aptos"/>
              </a:defRPr>
            </a:pPr>
            <a:r>
              <a:t>Late visibility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4398264"/>
            <a:ext cx="4709159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AABC5"/>
                </a:solidFill>
                <a:latin typeface="Aptos"/>
              </a:defRPr>
            </a:pPr>
            <a:r>
              <a:t>Without clear health signals, teams may notice a problem only after users feel it.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3813048"/>
            <a:ext cx="5074920" cy="1389888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1928" y="3813048"/>
            <a:ext cx="54864" cy="1389888"/>
          </a:xfrm>
          <a:prstGeom prst="rect">
            <a:avLst/>
          </a:prstGeom>
          <a:solidFill>
            <a:srgbClr val="17A673"/>
          </a:solidFill>
          <a:ln>
            <a:solidFill>
              <a:srgbClr val="17A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3977639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EFF5FF"/>
                </a:solidFill>
                <a:latin typeface="Aptos"/>
              </a:defRPr>
            </a:pPr>
            <a:r>
              <a:t>Unclear recovery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4398264"/>
            <a:ext cx="4709159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AABC5"/>
                </a:solidFill>
                <a:latin typeface="Aptos"/>
              </a:defRPr>
            </a:pPr>
            <a:r>
              <a:t>Operators need a visible path from detecting a problem to restoring service.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715000"/>
            <a:ext cx="102412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6C6DA"/>
                </a:solidFill>
                <a:latin typeface="Aptos"/>
              </a:defRPr>
            </a:pPr>
            <a:r>
              <a:t>Project focus: demonstrate a clear monitoring-and-recovery workflow, not claim production-grade automation.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C6DA"/>
                </a:solidFill>
                <a:latin typeface="Aptos"/>
              </a:defRPr>
            </a:pPr>
            <a:r>
              <a:t>03 / PROPOSED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EFF5FF"/>
                </a:solidFill>
                <a:latin typeface="Aptos"/>
              </a:defRPr>
            </a:pPr>
            <a:r>
              <a:t>One dashboard, two recovery scenarios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CloudGuard presents key health metrics alongside a simplified cloud architecture.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26375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9AABC5"/>
                </a:solidFill>
                <a:latin typeface="Aptos"/>
              </a:defRPr>
            </a:pPr>
            <a:r>
              <a:t>CLOUDGUARD  •  CLOUD RELIABILITY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6C6D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423160"/>
            <a:ext cx="2423160" cy="2011680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2651760"/>
            <a:ext cx="438912" cy="438912"/>
          </a:xfrm>
          <a:prstGeom prst="ellipse">
            <a:avLst/>
          </a:prstGeom>
          <a:solidFill>
            <a:srgbClr val="4778F5"/>
          </a:solidFill>
          <a:ln>
            <a:solidFill>
              <a:srgbClr val="477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734056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EFF5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7355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EFF5FF"/>
                </a:solidFill>
                <a:latin typeface="Aptos"/>
              </a:defRPr>
            </a:pPr>
            <a:r>
              <a:t>Observe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30752"/>
            <a:ext cx="199339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AABC5"/>
                </a:solidFill>
                <a:latin typeface="Aptos"/>
              </a:defRPr>
            </a:pPr>
            <a:r>
              <a:t>CPU, memory, response time and error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3246120"/>
            <a:ext cx="320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26C6D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93591" y="2423160"/>
            <a:ext cx="2423160" cy="2011680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794759" y="2651760"/>
            <a:ext cx="438912" cy="438912"/>
          </a:xfrm>
          <a:prstGeom prst="ellipse">
            <a:avLst/>
          </a:prstGeom>
          <a:solidFill>
            <a:srgbClr val="ED9A35"/>
          </a:solidFill>
          <a:ln>
            <a:solidFill>
              <a:srgbClr val="ED9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94759" y="2734056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EFF5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94759" y="327355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EFF5FF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59" y="3730752"/>
            <a:ext cx="199339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AABC5"/>
                </a:solidFill>
                <a:latin typeface="Aptos"/>
              </a:defRPr>
            </a:pPr>
            <a:r>
              <a:t>Identify simulated overload or region failure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80760" y="3246120"/>
            <a:ext cx="320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26C6D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73952" y="2423160"/>
            <a:ext cx="2423160" cy="2011680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75120" y="2651760"/>
            <a:ext cx="438912" cy="438912"/>
          </a:xfrm>
          <a:prstGeom prst="ellipse">
            <a:avLst/>
          </a:prstGeom>
          <a:solidFill>
            <a:srgbClr val="26C6DA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75120" y="2734056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EFF5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27355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EFF5FF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730752"/>
            <a:ext cx="199339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AABC5"/>
                </a:solidFill>
                <a:latin typeface="Aptos"/>
              </a:defRPr>
            </a:pPr>
            <a:r>
              <a:t>Simulate scaling or traffic redirection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246120"/>
            <a:ext cx="32004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400" b="1">
                <a:solidFill>
                  <a:srgbClr val="26C6DA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54311" y="2423160"/>
            <a:ext cx="2423160" cy="2011680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55480" y="2651760"/>
            <a:ext cx="438912" cy="438912"/>
          </a:xfrm>
          <a:prstGeom prst="ellipse">
            <a:avLst/>
          </a:prstGeom>
          <a:solidFill>
            <a:srgbClr val="17A673"/>
          </a:solidFill>
          <a:ln>
            <a:solidFill>
              <a:srgbClr val="17A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55480" y="2734056"/>
            <a:ext cx="438912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EFF5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273552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EFF5FF"/>
                </a:solidFill>
                <a:latin typeface="Aptos"/>
              </a:defRPr>
            </a:pPr>
            <a:r>
              <a:t>Verify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3730752"/>
            <a:ext cx="1993392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AABC5"/>
                </a:solidFill>
                <a:latin typeface="Aptos"/>
              </a:defRPr>
            </a:pPr>
            <a:r>
              <a:t>Update status and record the event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5166360"/>
            <a:ext cx="1024128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ED9A35"/>
                </a:solidFill>
                <a:latin typeface="Aptos"/>
              </a:defRPr>
            </a:pPr>
            <a:r>
              <a:t>The website is a simulation: its controls demonstrate expected behavior and do not connect to real cloud infrastructure.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C6DA"/>
                </a:solidFill>
                <a:latin typeface="Aptos"/>
              </a:defRPr>
            </a:pPr>
            <a:r>
              <a:t>04 /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EFF5FF"/>
                </a:solidFill>
                <a:latin typeface="Aptos"/>
              </a:defRPr>
            </a:pPr>
            <a:r>
              <a:t>How the components fit together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The prototype illustrates request routing, a primary region, a backup region, and a monitor.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26375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9AABC5"/>
                </a:solidFill>
                <a:latin typeface="Aptos"/>
              </a:defRPr>
            </a:pPr>
            <a:r>
              <a:t>CLOUDGUARD  •  CLOUD RELIABILITY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6C6D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0" y="1874519"/>
            <a:ext cx="3840480" cy="685800"/>
          </a:xfrm>
          <a:prstGeom prst="roundRect">
            <a:avLst/>
          </a:prstGeom>
          <a:solidFill>
            <a:srgbClr val="17243A"/>
          </a:solidFill>
          <a:ln>
            <a:solidFill>
              <a:srgbClr val="477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057400"/>
            <a:ext cx="34747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EFF5FF"/>
                </a:solidFill>
                <a:latin typeface="Aptos"/>
              </a:defRPr>
            </a:pPr>
            <a:r>
              <a:t>⚖  Load Balancer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2359152"/>
            <a:ext cx="34747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000" b="0">
                <a:solidFill>
                  <a:srgbClr val="9AABC5"/>
                </a:solidFill>
                <a:latin typeface="Aptos"/>
              </a:defRPr>
            </a:pPr>
            <a:r>
              <a:t>Routes requests to a healthy region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606040"/>
            <a:ext cx="457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600" b="1">
                <a:solidFill>
                  <a:srgbClr val="26C6DA"/>
                </a:solidFill>
                <a:latin typeface="Aptos"/>
              </a:defRPr>
            </a:pPr>
            <a:r>
              <a:t>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606040"/>
            <a:ext cx="45720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2600" b="1">
                <a:solidFill>
                  <a:srgbClr val="26C6DA"/>
                </a:solidFill>
                <a:latin typeface="Aptos"/>
              </a:defRPr>
            </a:pPr>
            <a:r>
              <a:t>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3063240"/>
            <a:ext cx="4297680" cy="1143000"/>
          </a:xfrm>
          <a:prstGeom prst="roundRect">
            <a:avLst/>
          </a:prstGeom>
          <a:solidFill>
            <a:srgbClr val="121D30"/>
          </a:solidFill>
          <a:ln>
            <a:solidFill>
              <a:srgbClr val="17A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34440" y="3310128"/>
            <a:ext cx="3840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EFF5FF"/>
                </a:solidFill>
                <a:latin typeface="Aptos"/>
              </a:defRPr>
            </a:pPr>
            <a:r>
              <a:t>☁  Region A · Primary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703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9AABC5"/>
                </a:solidFill>
                <a:latin typeface="Aptos"/>
              </a:defRPr>
            </a:pPr>
            <a:r>
              <a:t>Normally serves customer traffic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063240"/>
            <a:ext cx="4297680" cy="1143000"/>
          </a:xfrm>
          <a:prstGeom prst="roundRect">
            <a:avLst/>
          </a:prstGeom>
          <a:solidFill>
            <a:srgbClr val="121D30"/>
          </a:solidFill>
          <a:ln>
            <a:solidFill>
              <a:srgbClr val="477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86600" y="3310128"/>
            <a:ext cx="3840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EFF5FF"/>
                </a:solidFill>
                <a:latin typeface="Aptos"/>
              </a:defRPr>
            </a:pPr>
            <a:r>
              <a:t>🛟  Region B · Backup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86600" y="3703320"/>
            <a:ext cx="384048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9AABC5"/>
                </a:solidFill>
                <a:latin typeface="Aptos"/>
              </a:defRPr>
            </a:pPr>
            <a:r>
              <a:t>Ready to receive redirected traffic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834640" y="4800600"/>
            <a:ext cx="6537960" cy="640080"/>
          </a:xfrm>
          <a:prstGeom prst="roundRect">
            <a:avLst/>
          </a:prstGeom>
          <a:solidFill>
            <a:srgbClr val="143542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5001768"/>
            <a:ext cx="6172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26C6DA"/>
                </a:solidFill>
                <a:latin typeface="Aptos"/>
              </a:defRPr>
            </a:pPr>
            <a:r>
              <a:t>🛡  CloudGuard Monitor  •  Health signals  •  Recovery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806440"/>
            <a:ext cx="987552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0">
                <a:solidFill>
                  <a:srgbClr val="9AABC5"/>
                </a:solidFill>
                <a:latin typeface="Aptos"/>
              </a:defRPr>
            </a:pPr>
            <a:r>
              <a:t>Simplified conceptual architecture shown by the prototype; no live infrastructure is connected.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C6DA"/>
                </a:solidFill>
                <a:latin typeface="Aptos"/>
              </a:defRPr>
            </a:pPr>
            <a:r>
              <a:t>05 / HOW IT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EFF5FF"/>
                </a:solidFill>
                <a:latin typeface="Aptos"/>
              </a:defRPr>
            </a:pPr>
            <a:r>
              <a:t>From monitoring to recovery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The website organizes the workflow into four easy-to-explain stages.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26375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9AABC5"/>
                </a:solidFill>
                <a:latin typeface="Aptos"/>
              </a:defRPr>
            </a:pPr>
            <a:r>
              <a:t>CLOUDGUARD  •  CLOUD RELIABILITY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6C6D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075688"/>
            <a:ext cx="475488" cy="475488"/>
          </a:xfrm>
          <a:prstGeom prst="ellipse">
            <a:avLst/>
          </a:prstGeom>
          <a:solidFill>
            <a:srgbClr val="4778F5"/>
          </a:solidFill>
          <a:ln>
            <a:solidFill>
              <a:srgbClr val="477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176272"/>
            <a:ext cx="475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EFF5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2029968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6C6DA"/>
                </a:solidFill>
                <a:latin typeface="Aptos"/>
              </a:defRPr>
            </a:pPr>
            <a:r>
              <a:t>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020824"/>
            <a:ext cx="72237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FF5FF"/>
                </a:solidFill>
                <a:latin typeface="Aptos"/>
              </a:defRPr>
            </a:pPr>
            <a:r>
              <a:t>Read illustrative CPU, memory, traffic, response-time and error metrics.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560320"/>
            <a:ext cx="22860" cy="347472"/>
          </a:xfrm>
          <a:prstGeom prst="rect">
            <a:avLst/>
          </a:prstGeom>
          <a:solidFill>
            <a:srgbClr val="26375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3008376"/>
            <a:ext cx="475488" cy="475488"/>
          </a:xfrm>
          <a:prstGeom prst="ellipse">
            <a:avLst/>
          </a:prstGeom>
          <a:solidFill>
            <a:srgbClr val="ED9A35"/>
          </a:solidFill>
          <a:ln>
            <a:solidFill>
              <a:srgbClr val="ED9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08960"/>
            <a:ext cx="475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EFF5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2962656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6C6DA"/>
                </a:solidFill>
                <a:latin typeface="Aptos"/>
              </a:defRPr>
            </a:pPr>
            <a:r>
              <a:t>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953512"/>
            <a:ext cx="72237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FF5FF"/>
                </a:solidFill>
                <a:latin typeface="Aptos"/>
              </a:defRPr>
            </a:pPr>
            <a:r>
              <a:t>Flag a simulated traffic overload or failed primary region.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43000" y="3493008"/>
            <a:ext cx="22860" cy="347472"/>
          </a:xfrm>
          <a:prstGeom prst="rect">
            <a:avLst/>
          </a:prstGeom>
          <a:solidFill>
            <a:srgbClr val="26375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3941064"/>
            <a:ext cx="475488" cy="475488"/>
          </a:xfrm>
          <a:prstGeom prst="ellipse">
            <a:avLst/>
          </a:prstGeom>
          <a:solidFill>
            <a:srgbClr val="26C6DA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41648"/>
            <a:ext cx="475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EFF5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895344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6C6DA"/>
                </a:solidFill>
                <a:latin typeface="Aptos"/>
              </a:defRPr>
            </a:pPr>
            <a:r>
              <a:t>RESPOND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0" y="3886200"/>
            <a:ext cx="72237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FF5FF"/>
                </a:solidFill>
                <a:latin typeface="Aptos"/>
              </a:defRPr>
            </a:pPr>
            <a:r>
              <a:t>Simulate adding server capacity or redirecting traffic to Region B.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4425696"/>
            <a:ext cx="22860" cy="347472"/>
          </a:xfrm>
          <a:prstGeom prst="rect">
            <a:avLst/>
          </a:prstGeom>
          <a:solidFill>
            <a:srgbClr val="26375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873752"/>
            <a:ext cx="475488" cy="475488"/>
          </a:xfrm>
          <a:prstGeom prst="ellipse">
            <a:avLst/>
          </a:prstGeom>
          <a:solidFill>
            <a:srgbClr val="17A673"/>
          </a:solidFill>
          <a:ln>
            <a:solidFill>
              <a:srgbClr val="17A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974336"/>
            <a:ext cx="475488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EFF5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91640" y="4828031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26C6DA"/>
                </a:solidFill>
                <a:latin typeface="Aptos"/>
              </a:defRPr>
            </a:pPr>
            <a:r>
              <a:t>RECOVER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4818888"/>
            <a:ext cx="722376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0">
                <a:solidFill>
                  <a:srgbClr val="EFF5FF"/>
                </a:solidFill>
                <a:latin typeface="Aptos"/>
              </a:defRPr>
            </a:pPr>
            <a:r>
              <a:t>Update the health status and add an event to the monitoring log.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C6DA"/>
                </a:solidFill>
                <a:latin typeface="Aptos"/>
              </a:defRPr>
            </a:pPr>
            <a:r>
              <a:t>06 / PROTOTYPE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EFF5FF"/>
                </a:solidFill>
                <a:latin typeface="Aptos"/>
              </a:defRPr>
            </a:pPr>
            <a:r>
              <a:t>Inside the CloudGuard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The actual website shows four metrics, system architecture, scenario controls, resource health, and an activity log.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26375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9AABC5"/>
                </a:solidFill>
                <a:latin typeface="Aptos"/>
              </a:defRPr>
            </a:pPr>
            <a:r>
              <a:t>CLOUDGUARD  •  CLOUD RELIABILITY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6C6D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28800"/>
            <a:ext cx="7635240" cy="4160520"/>
          </a:xfrm>
          <a:prstGeom prst="roundRect">
            <a:avLst/>
          </a:prstGeom>
          <a:solidFill>
            <a:srgbClr val="F4F7FB"/>
          </a:solidFill>
          <a:ln>
            <a:solidFill>
              <a:srgbClr val="D7E1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828800"/>
            <a:ext cx="7635240" cy="384048"/>
          </a:xfrm>
          <a:prstGeom prst="rect">
            <a:avLst/>
          </a:prstGeom>
          <a:solidFill>
            <a:srgbClr val="DEE7F2"/>
          </a:solidFill>
          <a:ln>
            <a:solidFill>
              <a:srgbClr val="DEE7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68680" y="1965960"/>
            <a:ext cx="91440" cy="91440"/>
          </a:xfrm>
          <a:prstGeom prst="ellipse">
            <a:avLst/>
          </a:prstGeom>
          <a:solidFill>
            <a:srgbClr val="E65E69"/>
          </a:solidFill>
          <a:ln>
            <a:solidFill>
              <a:srgbClr val="E65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69848" y="1965960"/>
            <a:ext cx="91440" cy="91440"/>
          </a:xfrm>
          <a:prstGeom prst="ellipse">
            <a:avLst/>
          </a:prstGeom>
          <a:solidFill>
            <a:srgbClr val="ED9A35"/>
          </a:solidFill>
          <a:ln>
            <a:solidFill>
              <a:srgbClr val="ED9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271016" y="1965960"/>
            <a:ext cx="91440" cy="91440"/>
          </a:xfrm>
          <a:prstGeom prst="ellipse">
            <a:avLst/>
          </a:prstGeom>
          <a:solidFill>
            <a:srgbClr val="17A673"/>
          </a:solidFill>
          <a:ln>
            <a:solidFill>
              <a:srgbClr val="17A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2423160"/>
            <a:ext cx="43891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1">
                <a:solidFill>
                  <a:srgbClr val="14213A"/>
                </a:solidFill>
                <a:latin typeface="Aptos"/>
              </a:defRPr>
            </a:pPr>
            <a:r>
              <a:t>CloudGuard  /  System overview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" y="2816352"/>
            <a:ext cx="157276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944368"/>
            <a:ext cx="1371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14213A"/>
                </a:solidFill>
                <a:latin typeface="Aptos"/>
              </a:defRPr>
            </a:pPr>
            <a:r>
              <a:t>CPU usage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200400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4778F5"/>
                </a:solidFill>
                <a:latin typeface="Aptos"/>
              </a:defRPr>
            </a:pPr>
            <a:r>
              <a:t>40%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79191" y="2816352"/>
            <a:ext cx="157276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2944368"/>
            <a:ext cx="1371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14213A"/>
                </a:solidFill>
                <a:latin typeface="Aptos"/>
              </a:defRPr>
            </a:pPr>
            <a:r>
              <a:t>Memory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3200400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26C6DA"/>
                </a:solidFill>
                <a:latin typeface="Aptos"/>
              </a:defRPr>
            </a:pPr>
            <a:r>
              <a:t>52%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43983" y="2816352"/>
            <a:ext cx="157276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3712" y="2944368"/>
            <a:ext cx="1371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14213A"/>
                </a:solidFill>
                <a:latin typeface="Aptos"/>
              </a:defRPr>
            </a:pPr>
            <a:r>
              <a:t>Response time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3200400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17A673"/>
                </a:solidFill>
                <a:latin typeface="Aptos"/>
              </a:defRPr>
            </a:pPr>
            <a:r>
              <a:t>180 ms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2816352"/>
            <a:ext cx="1572768" cy="77724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4" y="2944368"/>
            <a:ext cx="13716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14213A"/>
                </a:solidFill>
                <a:latin typeface="Aptos"/>
              </a:defRPr>
            </a:pPr>
            <a:r>
              <a:t>Error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3200400"/>
            <a:ext cx="13716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ED9A35"/>
                </a:solidFill>
                <a:latin typeface="Aptos"/>
              </a:defRPr>
            </a:pPr>
            <a:r>
              <a:t>0.4%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3822191"/>
            <a:ext cx="7086600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78992" y="4023360"/>
            <a:ext cx="672084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100" b="1">
                <a:solidFill>
                  <a:srgbClr val="14213A"/>
                </a:solidFill>
                <a:latin typeface="Aptos"/>
              </a:defRPr>
            </a:pPr>
            <a:r>
              <a:t>Load Balancer   →   Region A (Primary)   /   Region B (Backup)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4709160"/>
            <a:ext cx="708660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1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97280" y="4846320"/>
            <a:ext cx="210312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800" b="1">
                <a:solidFill>
                  <a:srgbClr val="14213A"/>
                </a:solidFill>
                <a:latin typeface="Aptos"/>
              </a:defRPr>
            </a:pPr>
            <a:r>
              <a:t>MONITORING ACTIVITY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38928"/>
            <a:ext cx="649224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14213A"/>
                </a:solidFill>
                <a:latin typeface="Aptos"/>
              </a:defRPr>
            </a:pPr>
            <a:r>
              <a:t>System healthy · Primary region serving traffic · Backup ready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41080" y="2057400"/>
            <a:ext cx="2560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C6DA"/>
                </a:solidFill>
                <a:latin typeface="Aptos"/>
              </a:defRPr>
            </a:pPr>
            <a:r>
              <a:t>KEY INTERACTIONS</a:t>
            </a:r>
          </a:p>
        </p:txBody>
      </p:sp>
      <p:sp>
        <p:nvSpPr>
          <p:cNvPr id="32" name="Oval 31"/>
          <p:cNvSpPr/>
          <p:nvPr/>
        </p:nvSpPr>
        <p:spPr>
          <a:xfrm>
            <a:off x="8641080" y="2651760"/>
            <a:ext cx="100584" cy="100584"/>
          </a:xfrm>
          <a:prstGeom prst="ellipse">
            <a:avLst/>
          </a:prstGeom>
          <a:solidFill>
            <a:srgbClr val="26C6DA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69680" y="2560320"/>
            <a:ext cx="26060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Simulate traffic spike</a:t>
            </a:r>
          </a:p>
        </p:txBody>
      </p:sp>
      <p:sp>
        <p:nvSpPr>
          <p:cNvPr id="34" name="Oval 33"/>
          <p:cNvSpPr/>
          <p:nvPr/>
        </p:nvSpPr>
        <p:spPr>
          <a:xfrm>
            <a:off x="8641080" y="3218688"/>
            <a:ext cx="100584" cy="100584"/>
          </a:xfrm>
          <a:prstGeom prst="ellipse">
            <a:avLst/>
          </a:prstGeom>
          <a:solidFill>
            <a:srgbClr val="26C6DA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0" y="3127248"/>
            <a:ext cx="26060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Simulate Region A failure</a:t>
            </a:r>
          </a:p>
        </p:txBody>
      </p:sp>
      <p:sp>
        <p:nvSpPr>
          <p:cNvPr id="36" name="Oval 35"/>
          <p:cNvSpPr/>
          <p:nvPr/>
        </p:nvSpPr>
        <p:spPr>
          <a:xfrm>
            <a:off x="8641080" y="3785615"/>
            <a:ext cx="100584" cy="100584"/>
          </a:xfrm>
          <a:prstGeom prst="ellipse">
            <a:avLst/>
          </a:prstGeom>
          <a:solidFill>
            <a:srgbClr val="26C6DA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869680" y="3694176"/>
            <a:ext cx="26060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Reset demo</a:t>
            </a:r>
          </a:p>
        </p:txBody>
      </p:sp>
      <p:sp>
        <p:nvSpPr>
          <p:cNvPr id="38" name="Oval 37"/>
          <p:cNvSpPr/>
          <p:nvPr/>
        </p:nvSpPr>
        <p:spPr>
          <a:xfrm>
            <a:off x="8641080" y="4352544"/>
            <a:ext cx="100584" cy="100584"/>
          </a:xfrm>
          <a:prstGeom prst="ellipse">
            <a:avLst/>
          </a:prstGeom>
          <a:solidFill>
            <a:srgbClr val="26C6DA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869680" y="4261104"/>
            <a:ext cx="260604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Clear monitoring log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68512" y="5257800"/>
            <a:ext cx="2560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ED9A35"/>
                </a:solidFill>
                <a:latin typeface="Aptos"/>
              </a:defRPr>
            </a:pPr>
            <a:r>
              <a:t>Dashboard metrics are illustrative values.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C6DA"/>
                </a:solidFill>
                <a:latin typeface="Aptos"/>
              </a:defRPr>
            </a:pPr>
            <a:r>
              <a:t>07 / PROTOTYPE DEMONSTRATION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EFF5FF"/>
                </a:solidFill>
                <a:latin typeface="Aptos"/>
              </a:defRPr>
            </a:pPr>
            <a:r>
              <a:t>Two scenarios you can demonstrate live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Use the website buttons to show how the dashboard reacts. All values and actions are simulated.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26375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9AABC5"/>
                </a:solidFill>
                <a:latin typeface="Aptos"/>
              </a:defRPr>
            </a:pPr>
            <a:r>
              <a:t>CLOUDGUARD  •  CLOUD RELIABILITY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6C6D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57400"/>
            <a:ext cx="5074920" cy="2423160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54864" cy="2423160"/>
          </a:xfrm>
          <a:prstGeom prst="rect">
            <a:avLst/>
          </a:prstGeom>
          <a:solidFill>
            <a:srgbClr val="ED9A35"/>
          </a:solidFill>
          <a:ln>
            <a:solidFill>
              <a:srgbClr val="ED9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221992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EFF5FF"/>
                </a:solidFill>
                <a:latin typeface="Aptos"/>
              </a:defRPr>
            </a:pPr>
            <a:r>
              <a:t>Scenario A · Traffic spike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642616"/>
            <a:ext cx="4709159" cy="1764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1. Click “Simulate traffic spike”.</a:t>
            </a:r>
          </a:p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2. CPU and memory rise; response time and errors increase.</a:t>
            </a:r>
          </a:p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3. The demo simulates extra capacity.</a:t>
            </a:r>
          </a:p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4. Metrics settle and the log records auto-scaling.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057400"/>
            <a:ext cx="5074920" cy="2423160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057400"/>
            <a:ext cx="54864" cy="2423160"/>
          </a:xfrm>
          <a:prstGeom prst="rect">
            <a:avLst/>
          </a:prstGeom>
          <a:solidFill>
            <a:srgbClr val="E65E69"/>
          </a:solidFill>
          <a:ln>
            <a:solidFill>
              <a:srgbClr val="E65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2221992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700" b="1">
                <a:solidFill>
                  <a:srgbClr val="EFF5FF"/>
                </a:solidFill>
                <a:latin typeface="Aptos"/>
              </a:defRPr>
            </a:pPr>
            <a:r>
              <a:t>Scenario B · Region A failure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528" y="2642616"/>
            <a:ext cx="4709159" cy="17647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1. Click “Simulate Region A failure”.</a:t>
            </a:r>
          </a:p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2. Region A is marked unavailable.</a:t>
            </a:r>
          </a:p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3. Region B is shown serving redirected traffic.</a:t>
            </a:r>
          </a:p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4. Status and event log reflect simulated failover.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83480"/>
            <a:ext cx="9875520" cy="658368"/>
          </a:xfrm>
          <a:prstGeom prst="roundRect">
            <a:avLst/>
          </a:prstGeom>
          <a:solidFill>
            <a:srgbClr val="143542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184648"/>
            <a:ext cx="94183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26C6DA"/>
                </a:solidFill>
                <a:latin typeface="Aptos"/>
              </a:defRPr>
            </a:pPr>
            <a:r>
              <a:t>Finish by clicking “Reset demo” to return to the normal state.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C6DA"/>
                </a:solidFill>
                <a:latin typeface="Aptos"/>
              </a:defRPr>
            </a:pPr>
            <a:r>
              <a:t>08 / WEBSITE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EFF5FF"/>
                </a:solidFill>
                <a:latin typeface="Aptos"/>
              </a:defRPr>
            </a:pPr>
            <a:r>
              <a:t>What the website contains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A single-page prototype with navigation links to the dashboard, architecture, and workflow.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26375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9AABC5"/>
                </a:solidFill>
                <a:latin typeface="Aptos"/>
              </a:defRPr>
            </a:pPr>
            <a:r>
              <a:t>CLOUDGUARD  •  CLOUD RELIABILITY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6C6D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1920240"/>
            <a:ext cx="5074920" cy="960120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8" y="1920240"/>
            <a:ext cx="54864" cy="960120"/>
          </a:xfrm>
          <a:prstGeom prst="rect">
            <a:avLst/>
          </a:prstGeom>
          <a:solidFill>
            <a:srgbClr val="4778F5"/>
          </a:solidFill>
          <a:ln>
            <a:solidFill>
              <a:srgbClr val="477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FF5FF"/>
                </a:solidFill>
                <a:latin typeface="Aptos"/>
              </a:defRPr>
            </a:pPr>
            <a:r>
              <a:t>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2505456"/>
            <a:ext cx="4709159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9AABC5"/>
                </a:solidFill>
                <a:latin typeface="Aptos"/>
              </a:defRPr>
            </a:pPr>
            <a:r>
              <a:t>Displays CPU, memory, response time, error rate and current system status.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1928" y="1920240"/>
            <a:ext cx="5074920" cy="960120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81928" y="1920240"/>
            <a:ext cx="54864" cy="960120"/>
          </a:xfrm>
          <a:prstGeom prst="rect">
            <a:avLst/>
          </a:prstGeom>
          <a:solidFill>
            <a:srgbClr val="26C6DA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084832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FF5FF"/>
                </a:solidFill>
                <a:latin typeface="Aptos"/>
              </a:defRPr>
            </a:pPr>
            <a: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3096" y="2505456"/>
            <a:ext cx="4709159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9AABC5"/>
                </a:solidFill>
                <a:latin typeface="Aptos"/>
              </a:defRPr>
            </a:pPr>
            <a:r>
              <a:t>Shows a load balancer connected to primary and backup regions.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49808" y="3154680"/>
            <a:ext cx="5074920" cy="960120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49808" y="3154680"/>
            <a:ext cx="54864" cy="960120"/>
          </a:xfrm>
          <a:prstGeom prst="rect">
            <a:avLst/>
          </a:prstGeom>
          <a:solidFill>
            <a:srgbClr val="ED9A35"/>
          </a:solidFill>
          <a:ln>
            <a:solidFill>
              <a:srgbClr val="ED9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0976" y="3319272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FF5FF"/>
                </a:solidFill>
                <a:latin typeface="Aptos"/>
              </a:defRPr>
            </a:pPr>
            <a:r>
              <a:t>Scenario controls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6" y="3739896"/>
            <a:ext cx="4709159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9AABC5"/>
                </a:solidFill>
                <a:latin typeface="Aptos"/>
              </a:defRPr>
            </a:pPr>
            <a:r>
              <a:t>Lets the presenter simulate traffic spikes, region failure, and reset.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81928" y="3154680"/>
            <a:ext cx="5074920" cy="960120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81928" y="3154680"/>
            <a:ext cx="54864" cy="960120"/>
          </a:xfrm>
          <a:prstGeom prst="rect">
            <a:avLst/>
          </a:prstGeom>
          <a:solidFill>
            <a:srgbClr val="17A673"/>
          </a:solidFill>
          <a:ln>
            <a:solidFill>
              <a:srgbClr val="17A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83096" y="3319272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FF5FF"/>
                </a:solidFill>
                <a:latin typeface="Aptos"/>
              </a:defRPr>
            </a:pPr>
            <a:r>
              <a:t>Resource 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83096" y="3739896"/>
            <a:ext cx="4709159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9AABC5"/>
                </a:solidFill>
                <a:latin typeface="Aptos"/>
              </a:defRPr>
            </a:pPr>
            <a:r>
              <a:t>Uses meters to visualize CPU, memory, and traffic load.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49808" y="4389120"/>
            <a:ext cx="5074920" cy="960120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9808" y="4389120"/>
            <a:ext cx="54864" cy="960120"/>
          </a:xfrm>
          <a:prstGeom prst="rect">
            <a:avLst/>
          </a:prstGeom>
          <a:solidFill>
            <a:srgbClr val="E65E69"/>
          </a:solidFill>
          <a:ln>
            <a:solidFill>
              <a:srgbClr val="E65E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" y="4553712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FF5FF"/>
                </a:solidFill>
                <a:latin typeface="Aptos"/>
              </a:defRPr>
            </a:pPr>
            <a:r>
              <a:t>Monitoring activity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" y="4974336"/>
            <a:ext cx="4709159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9AABC5"/>
                </a:solidFill>
                <a:latin typeface="Aptos"/>
              </a:defRPr>
            </a:pPr>
            <a:r>
              <a:t>Adds timestamped demo events as scenarios run.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81928" y="4389120"/>
            <a:ext cx="5074920" cy="960120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81928" y="4389120"/>
            <a:ext cx="54864" cy="960120"/>
          </a:xfrm>
          <a:prstGeom prst="rect">
            <a:avLst/>
          </a:prstGeom>
          <a:solidFill>
            <a:srgbClr val="4778F5"/>
          </a:solidFill>
          <a:ln>
            <a:solidFill>
              <a:srgbClr val="477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83096" y="4553712"/>
            <a:ext cx="4709159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FF5FF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83096" y="4974336"/>
            <a:ext cx="4709159" cy="3017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0">
                <a:solidFill>
                  <a:srgbClr val="9AABC5"/>
                </a:solidFill>
                <a:latin typeface="Aptos"/>
              </a:defRPr>
            </a:pPr>
            <a:r>
              <a:t>Summarizes Monitor → Detect → Respond → Recover.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806440"/>
            <a:ext cx="101498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1200" b="1">
                <a:solidFill>
                  <a:srgbClr val="ED9A35"/>
                </a:solidFill>
                <a:latin typeface="Aptos"/>
              </a:defRPr>
            </a:pPr>
            <a:r>
              <a:t>Prototype limitation: no real cloud monitoring or infrastructure integration is connected.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C6DA"/>
                </a:solidFill>
                <a:latin typeface="Aptos"/>
              </a:defRPr>
            </a:pPr>
            <a:r>
              <a:t>09 /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EFF5FF"/>
                </a:solidFill>
                <a:latin typeface="Aptos"/>
              </a:defRPr>
            </a:pPr>
            <a:r>
              <a:t>Who is CloudGuard for?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The prototype is useful for explaining reliability concepts to both technical and non-technical audiences.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26375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9AABC5"/>
                </a:solidFill>
                <a:latin typeface="Aptos"/>
              </a:defRPr>
            </a:pPr>
            <a:r>
              <a:t>CLOUDGUARD  •  CLOUD RELIABILITY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6C6D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240280"/>
            <a:ext cx="3337560" cy="1965960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240280"/>
            <a:ext cx="54864" cy="1965960"/>
          </a:xfrm>
          <a:prstGeom prst="rect">
            <a:avLst/>
          </a:prstGeom>
          <a:solidFill>
            <a:srgbClr val="4778F5"/>
          </a:solidFill>
          <a:ln>
            <a:solidFill>
              <a:srgbClr val="477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2404872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EFF5FF"/>
                </a:solidFill>
                <a:latin typeface="Aptos"/>
              </a:defRPr>
            </a:pPr>
            <a:r>
              <a:t>Developers &amp; DevOps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8" y="2825496"/>
            <a:ext cx="2971800" cy="1307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AABC5"/>
                </a:solidFill>
                <a:latin typeface="Aptos"/>
              </a:defRPr>
            </a:pPr>
            <a:r>
              <a:t>See how resource pressure can affect performance and availability.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34840" y="2240280"/>
            <a:ext cx="3337560" cy="1965960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34840" y="2240280"/>
            <a:ext cx="54864" cy="1965960"/>
          </a:xfrm>
          <a:prstGeom prst="rect">
            <a:avLst/>
          </a:prstGeom>
          <a:solidFill>
            <a:srgbClr val="26C6DA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7" y="2404872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EFF5FF"/>
                </a:solidFill>
                <a:latin typeface="Aptos"/>
              </a:defRPr>
            </a:pPr>
            <a:r>
              <a:t>Operations teams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7" y="2825496"/>
            <a:ext cx="2971800" cy="1307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AABC5"/>
                </a:solidFill>
                <a:latin typeface="Aptos"/>
              </a:defRPr>
            </a:pPr>
            <a:r>
              <a:t>Follow a clear sequence from a health signal to a recovery action.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2240280"/>
            <a:ext cx="3337560" cy="1965960"/>
          </a:xfrm>
          <a:prstGeom prst="roundRect">
            <a:avLst/>
          </a:prstGeom>
          <a:solidFill>
            <a:srgbClr val="121D3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92440" y="2240280"/>
            <a:ext cx="54864" cy="1965960"/>
          </a:xfrm>
          <a:prstGeom prst="rect">
            <a:avLst/>
          </a:prstGeom>
          <a:solidFill>
            <a:srgbClr val="17A673"/>
          </a:solidFill>
          <a:ln>
            <a:solidFill>
              <a:srgbClr val="17A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93608" y="2404872"/>
            <a:ext cx="2971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600" b="1">
                <a:solidFill>
                  <a:srgbClr val="EFF5FF"/>
                </a:solidFill>
                <a:latin typeface="Aptos"/>
              </a:defRPr>
            </a:pPr>
            <a:r>
              <a:t>Project reviewers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93608" y="2825496"/>
            <a:ext cx="2971800" cy="1307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AABC5"/>
                </a:solidFill>
                <a:latin typeface="Aptos"/>
              </a:defRPr>
            </a:pPr>
            <a:r>
              <a:t>Understand high availability, backup regions, and event tracking through a demo.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9204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1">
                <a:solidFill>
                  <a:srgbClr val="26C6DA"/>
                </a:solidFill>
                <a:latin typeface="Aptos"/>
              </a:defRPr>
            </a:pPr>
            <a:r>
              <a:t>Potential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4846320"/>
            <a:ext cx="804672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EFF5FF"/>
                </a:solidFill>
                <a:latin typeface="Aptos"/>
              </a:defRPr>
            </a:pPr>
            <a:r>
              <a:t>Clearer visibility  •  Easier demonstrations  •  Faster understanding of recovery flows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9184"/>
            <a:ext cx="77724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C6DA"/>
                </a:solidFill>
                <a:latin typeface="Aptos"/>
              </a:defRPr>
            </a:pPr>
            <a:r>
              <a:t>10 /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972800" cy="5486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2800" b="1">
                <a:solidFill>
                  <a:srgbClr val="EFF5FF"/>
                </a:solidFill>
                <a:latin typeface="Aptos"/>
              </a:defRPr>
            </a:pPr>
            <a:r>
              <a:t>What could come next?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298448"/>
            <a:ext cx="1078992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These are possible extensions, not features currently implemented in the prototype.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6446520"/>
            <a:ext cx="10881360" cy="10972"/>
          </a:xfrm>
          <a:prstGeom prst="rect">
            <a:avLst/>
          </a:prstGeom>
          <a:solidFill>
            <a:srgbClr val="263750"/>
          </a:solidFill>
          <a:ln>
            <a:solidFill>
              <a:srgbClr val="26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6510528"/>
            <a:ext cx="7315200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800" b="0">
                <a:solidFill>
                  <a:srgbClr val="9AABC5"/>
                </a:solidFill>
                <a:latin typeface="Aptos"/>
              </a:defRPr>
            </a:pPr>
            <a:r>
              <a:t>CLOUDGUARD  •  CLOUD RELIABILITY PROTOTYPE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50292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500"/>
              </a:spcAft>
              <a:defRPr sz="900" b="1">
                <a:solidFill>
                  <a:srgbClr val="26C6D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112264"/>
            <a:ext cx="411480" cy="411480"/>
          </a:xfrm>
          <a:prstGeom prst="ellipse">
            <a:avLst/>
          </a:prstGeom>
          <a:solidFill>
            <a:srgbClr val="4778F5"/>
          </a:solidFill>
          <a:ln>
            <a:solidFill>
              <a:srgbClr val="477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2103120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C6DA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066543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FF5FF"/>
                </a:solidFill>
                <a:latin typeface="Aptos"/>
              </a:defRPr>
            </a:pPr>
            <a:r>
              <a:t>Connect real telemetry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066543"/>
            <a:ext cx="5120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AABC5"/>
                </a:solidFill>
                <a:latin typeface="Aptos"/>
              </a:defRPr>
            </a:pPr>
            <a:r>
              <a:t>Integrate cloud metrics and health checks from an actual environment.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2962656"/>
            <a:ext cx="411480" cy="411480"/>
          </a:xfrm>
          <a:prstGeom prst="ellipse">
            <a:avLst/>
          </a:prstGeom>
          <a:solidFill>
            <a:srgbClr val="26C6DA"/>
          </a:solidFill>
          <a:ln>
            <a:solidFill>
              <a:srgbClr val="26C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2953512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C6DA"/>
                </a:solidFill>
                <a:latin typeface="Aptos"/>
              </a:defRPr>
            </a:pPr>
            <a:r>
              <a:t>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916936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FF5FF"/>
                </a:solidFill>
                <a:latin typeface="Aptos"/>
              </a:defRPr>
            </a:pPr>
            <a:r>
              <a:t>Add notifications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2916936"/>
            <a:ext cx="5120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AABC5"/>
                </a:solidFill>
                <a:latin typeface="Aptos"/>
              </a:defRPr>
            </a:pPr>
            <a:r>
              <a:t>Send alerts to an administrator when thresholds are crossed.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3813048"/>
            <a:ext cx="411480" cy="411480"/>
          </a:xfrm>
          <a:prstGeom prst="ellipse">
            <a:avLst/>
          </a:prstGeom>
          <a:solidFill>
            <a:srgbClr val="17A673"/>
          </a:solidFill>
          <a:ln>
            <a:solidFill>
              <a:srgbClr val="17A6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00200" y="3803904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C6DA"/>
                </a:solidFill>
                <a:latin typeface="Aptos"/>
              </a:defRPr>
            </a:pPr>
            <a:r>
              <a:t>LATER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3767328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FF5FF"/>
                </a:solidFill>
                <a:latin typeface="Aptos"/>
              </a:defRPr>
            </a:pPr>
            <a:r>
              <a:t>Test recovery policies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3767328"/>
            <a:ext cx="5120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AABC5"/>
                </a:solidFill>
                <a:latin typeface="Aptos"/>
              </a:defRPr>
            </a:pPr>
            <a:r>
              <a:t>Define safe rules for scaling and region failover.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663440"/>
            <a:ext cx="411480" cy="411480"/>
          </a:xfrm>
          <a:prstGeom prst="ellipse">
            <a:avLst/>
          </a:prstGeom>
          <a:solidFill>
            <a:srgbClr val="ED9A35"/>
          </a:solidFill>
          <a:ln>
            <a:solidFill>
              <a:srgbClr val="ED9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00200" y="4654296"/>
            <a:ext cx="96012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000" b="1">
                <a:solidFill>
                  <a:srgbClr val="26C6DA"/>
                </a:solidFill>
                <a:latin typeface="Aptos"/>
              </a:defRPr>
            </a:pPr>
            <a:r>
              <a:t>LATER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651760" y="4617720"/>
            <a:ext cx="2926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400" b="1">
                <a:solidFill>
                  <a:srgbClr val="EFF5FF"/>
                </a:solidFill>
                <a:latin typeface="Aptos"/>
              </a:defRPr>
            </a:pPr>
            <a:r>
              <a:t>Add access and audit controls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617720"/>
            <a:ext cx="512064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200" b="0">
                <a:solidFill>
                  <a:srgbClr val="9AABC5"/>
                </a:solidFill>
                <a:latin typeface="Aptos"/>
              </a:defRPr>
            </a:pPr>
            <a:r>
              <a:t>Track who changed settings and protect operational actions.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686800" y="960120"/>
            <a:ext cx="2331720" cy="2331720"/>
          </a:xfrm>
          <a:prstGeom prst="ellipse">
            <a:avLst/>
          </a:prstGeom>
          <a:solidFill>
            <a:srgbClr val="17243A"/>
          </a:solidFill>
          <a:ln>
            <a:solidFill>
              <a:srgbClr val="1724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070848" y="1344168"/>
            <a:ext cx="1554480" cy="1554480"/>
          </a:xfrm>
          <a:prstGeom prst="ellipse">
            <a:avLst/>
          </a:prstGeom>
          <a:solidFill>
            <a:srgbClr val="4778F5"/>
          </a:solidFill>
          <a:ln>
            <a:solidFill>
              <a:srgbClr val="4778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45752" y="1719072"/>
            <a:ext cx="8229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500"/>
              </a:spcAft>
              <a:defRPr sz="3600" b="1">
                <a:solidFill>
                  <a:srgbClr val="26C6DA"/>
                </a:solidFill>
                <a:latin typeface="Aptos"/>
              </a:defRPr>
            </a:pPr>
            <a:r>
              <a:t>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04088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EFF5FF"/>
                </a:solidFill>
                <a:latin typeface="Aptos"/>
              </a:defRPr>
            </a:pPr>
            <a:r>
              <a:t>CloudGuard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331720"/>
            <a:ext cx="65836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2600" b="1">
                <a:solidFill>
                  <a:srgbClr val="26C6DA"/>
                </a:solidFill>
                <a:latin typeface="Aptos"/>
              </a:defRPr>
            </a:pPr>
            <a:r>
              <a:t>Stay online.</a:t>
            </a:r>
          </a:p>
          <a:p>
            <a:pPr>
              <a:spcAft>
                <a:spcPts val="500"/>
              </a:spcAft>
              <a:defRPr sz="2600" b="1">
                <a:solidFill>
                  <a:srgbClr val="26C6DA"/>
                </a:solidFill>
                <a:latin typeface="Aptos"/>
              </a:defRPr>
            </a:pPr>
            <a:r>
              <a:t>Recover smarter.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4069080"/>
            <a:ext cx="274320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800" b="1">
                <a:solidFill>
                  <a:srgbClr val="EFF5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526280"/>
            <a:ext cx="38404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1300" b="0">
                <a:solidFill>
                  <a:srgbClr val="9AABC5"/>
                </a:solidFill>
                <a:latin typeface="Aptos"/>
              </a:defRPr>
            </a:pPr>
            <a: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5989320"/>
            <a:ext cx="86868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9AABC5"/>
                </a:solidFill>
                <a:latin typeface="Aptos"/>
              </a:defRPr>
            </a:pPr>
            <a:r>
              <a:t>Cloud reliability academic prototype • simulated metrics and actions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